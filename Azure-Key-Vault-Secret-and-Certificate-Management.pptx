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Slab" pitchFamily="2" charset="0"/>
      <p:regular r:id="rId15"/>
    </p:embeddedFont>
    <p:embeddedFont>
      <p:font typeface="Roboto Slab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90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212777"/>
            <a:ext cx="1653340" cy="287139"/>
          </a:xfrm>
          <a:prstGeom prst="roundRect">
            <a:avLst>
              <a:gd name="adj" fmla="val 7899"/>
            </a:avLst>
          </a:prstGeom>
          <a:solidFill>
            <a:srgbClr val="0825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2280741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2269430"/>
            <a:ext cx="18093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SECURITY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2409269" y="2212777"/>
            <a:ext cx="91973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673" y="2280741"/>
            <a:ext cx="151206" cy="151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9481" y="2269430"/>
            <a:ext cx="107570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61475" y="257552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Key Vault: Secret &amp; Certificate Management</a:t>
            </a:r>
            <a:endParaRPr lang="en-US" sz="3700" dirty="0"/>
          </a:p>
        </p:txBody>
      </p:sp>
      <p:sp>
        <p:nvSpPr>
          <p:cNvPr id="9" name="Text 5"/>
          <p:cNvSpPr/>
          <p:nvPr/>
        </p:nvSpPr>
        <p:spPr>
          <a:xfrm>
            <a:off x="661475" y="404028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Security Project — Secure storage, access control, and automated lifecycle management for credentials, keys, and certificates in Azure.</a:t>
            </a:r>
            <a:endParaRPr lang="en-US" sz="1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BF2366-7FCC-2A05-623C-4180993B18F1}"/>
              </a:ext>
            </a:extLst>
          </p:cNvPr>
          <p:cNvSpPr txBox="1"/>
          <p:nvPr/>
        </p:nvSpPr>
        <p:spPr>
          <a:xfrm>
            <a:off x="2522673" y="4758612"/>
            <a:ext cx="43819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ID                          NAME</a:t>
            </a:r>
          </a:p>
          <a:p>
            <a:r>
              <a:rPr lang="en-US" dirty="0">
                <a:solidFill>
                  <a:schemeClr val="bg1"/>
                </a:solidFill>
              </a:rPr>
              <a:t>2400031099   -R.LEELAROHITH</a:t>
            </a:r>
          </a:p>
          <a:p>
            <a:r>
              <a:rPr lang="en-US" dirty="0">
                <a:solidFill>
                  <a:schemeClr val="bg1"/>
                </a:solidFill>
              </a:rPr>
              <a:t>2400031147   -K.LOHITH</a:t>
            </a:r>
          </a:p>
          <a:p>
            <a:r>
              <a:rPr lang="en-US" dirty="0">
                <a:solidFill>
                  <a:schemeClr val="bg1"/>
                </a:solidFill>
              </a:rPr>
              <a:t>2400031100   -SHAIK  OMAIRA  ANJUM</a:t>
            </a:r>
          </a:p>
          <a:p>
            <a:r>
              <a:rPr lang="en-US" dirty="0">
                <a:solidFill>
                  <a:schemeClr val="bg1"/>
                </a:solidFill>
              </a:rPr>
              <a:t>2400031137   -P.RAJESH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0090"/>
            <a:ext cx="1552139" cy="23782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5333" y="607020"/>
            <a:ext cx="197400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FOUNDATION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49709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Abstract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649809"/>
            <a:ext cx="6368494" cy="114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cloud applications rely on sensitive credentials — API keys, passwords, connection strings, and TLS certificates — to function. Storing these in code or configuration files creates critical security gaps. </a:t>
            </a:r>
            <a:r>
              <a:rPr lang="en-US" sz="12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Azure Key Vault</a:t>
            </a: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a hardened, cloud-native solution for securely storing, accessing, and rotating secrets and certificates, integrated with Microsoft Entra ID for identity-based access control.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8103" y="1678980"/>
            <a:ext cx="4118368" cy="140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93616" y="2305050"/>
            <a:ext cx="376734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Secrets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93616" y="2679204"/>
            <a:ext cx="376734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Passwords, connection strings, API keys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8103" y="3213199"/>
            <a:ext cx="4118368" cy="1404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93616" y="3839270"/>
            <a:ext cx="376734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93616" y="4213423"/>
            <a:ext cx="376734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Cryptographic keys for encryption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8103" y="4747419"/>
            <a:ext cx="4118368" cy="1404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93616" y="5373489"/>
            <a:ext cx="376734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Certificates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593616" y="5747643"/>
            <a:ext cx="376734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TLS/SSL certs with auto-renewal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89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</a:t>
            </a:r>
            <a:r>
              <a:rPr lang="en-US" sz="3650" b="1" dirty="0">
                <a:solidFill>
                  <a:srgbClr val="76B9F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oblem Stat</a:t>
            </a:r>
            <a:r>
              <a:rPr lang="en-US" sz="3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481634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Credential Crisis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88865"/>
            <a:ext cx="4075209" cy="23093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96849" y="2900561"/>
            <a:ext cx="63397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Hardcoded credentials in source code and config files are among the top causes of cloud security breaches. Developers frequently commit secrets to version control, exposing them to unauthorized access.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10138"/>
            <a:ext cx="3500747" cy="14139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4502" y="5121573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Hardcoded Credentials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74502" y="5522119"/>
            <a:ext cx="297629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Secrets in code are exposed via repos, logs, and backups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5375" y="4910138"/>
            <a:ext cx="3500846" cy="14139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58402" y="5121573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Certificate Complexity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658402" y="5522119"/>
            <a:ext cx="29763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renewal leads to expiration outages and compliance gaps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9374" y="4910138"/>
            <a:ext cx="3500747" cy="14139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42401" y="5121573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Audit Trail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342401" y="5522119"/>
            <a:ext cx="297629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Uncontrolled access without logging or alerting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50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137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addresses three core goals for enterprise-grade secret and certificate management in Azure.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28813"/>
            <a:ext cx="3496877" cy="2883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6410" y="287059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5881" y="348476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Credential Storage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89344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hardcoded secrets by centralizing all credentials in Azure Key Vault with encryption at rest and in transit.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728813"/>
            <a:ext cx="3496877" cy="28839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2294" y="287059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61766" y="3484761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Automated Certificate Renewal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4188718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 Key Vault's certificate policies to auto-renew TLS certificates, preventing expiration-related outages.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728813"/>
            <a:ext cx="3496877" cy="28839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179" y="287059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47650" y="348476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Access Control &amp; Auditing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389344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least-privilege access via RBAC and Managed Identity, with full audit logging through Azure Monitor.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552"/>
            <a:ext cx="339091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Solution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17862"/>
            <a:ext cx="33909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flow from user authentication through secure secret retrieval — with zero credentials in application code.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840163"/>
            <a:ext cx="3390914" cy="1946672"/>
          </a:xfrm>
          <a:prstGeom prst="roundRect">
            <a:avLst>
              <a:gd name="adj" fmla="val 1456"/>
            </a:avLst>
          </a:prstGeom>
          <a:solidFill>
            <a:srgbClr val="0D3E7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126905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057452"/>
            <a:ext cx="258765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principle: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application never stores credentials. Managed Identity provides passwordless, token-based access to Key Vault.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896" y="1071166"/>
            <a:ext cx="7016574" cy="39469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04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Services Used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11784"/>
            <a:ext cx="342594" cy="3426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8359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Key Vault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2309019"/>
            <a:ext cx="533733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HSM-backed storage for secrets, keys, and certificates with FIPS 140-2 compliance.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2782" y="1411784"/>
            <a:ext cx="342594" cy="342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2782" y="1948359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Microsoft Entra ID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192782" y="2309019"/>
            <a:ext cx="533743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 provider for authentication, token issuance, and conditional access policies.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1960"/>
            <a:ext cx="342594" cy="3426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678535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Managed Identity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61475" y="4039195"/>
            <a:ext cx="533733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Auto-managed Azure AD identity for services — eliminates embedded credentials.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2782" y="3141960"/>
            <a:ext cx="342594" cy="3426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2782" y="3678535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App Service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192782" y="4039195"/>
            <a:ext cx="533743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PaaS hosting for web apps and APIs, integrated natively with Key Vault references.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72137"/>
            <a:ext cx="342594" cy="3426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08712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Monitor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61475" y="5769372"/>
            <a:ext cx="533733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telemetry, diagnostic logs, and alerting for Key Vault access events.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2782" y="4872137"/>
            <a:ext cx="342594" cy="3426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2782" y="5408712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Azure Activity Log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6192782" y="5769372"/>
            <a:ext cx="533743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Subscription-level audit trail for compliance reporting and forensic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7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Working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57043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Cert Management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Secret Retrieval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367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Managed Identity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52016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Auth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5140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entire flow is credential-free from the application's perspective. Managed Identity handles authentication transparently, and Key Vault enforces access policies before releasing any secret or certificate.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3442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Cases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56320"/>
            <a:ext cx="3065386" cy="2804120"/>
          </a:xfrm>
          <a:prstGeom prst="roundRect">
            <a:avLst>
              <a:gd name="adj" fmla="val 948"/>
            </a:avLst>
          </a:prstGeom>
          <a:solidFill>
            <a:srgbClr val="3F4652"/>
          </a:solidFill>
          <a:ln/>
        </p:spPr>
      </p:sp>
      <p:sp>
        <p:nvSpPr>
          <p:cNvPr id="5" name="Shape 2"/>
          <p:cNvSpPr/>
          <p:nvPr/>
        </p:nvSpPr>
        <p:spPr>
          <a:xfrm>
            <a:off x="838675" y="1533525"/>
            <a:ext cx="531601" cy="531614"/>
          </a:xfrm>
          <a:prstGeom prst="ellipse">
            <a:avLst/>
          </a:prstGeom>
          <a:solidFill>
            <a:srgbClr val="599CE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821" y="1679674"/>
            <a:ext cx="239210" cy="239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675" y="2231231"/>
            <a:ext cx="2710985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Eliminate Hardcoded Credentials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38675" y="2884686"/>
            <a:ext cx="2710985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connection strings and API keys in code with Key Vault references — secrets never touch source control.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892949" y="1356320"/>
            <a:ext cx="3065386" cy="2804120"/>
          </a:xfrm>
          <a:prstGeom prst="roundRect">
            <a:avLst>
              <a:gd name="adj" fmla="val 948"/>
            </a:avLst>
          </a:prstGeom>
          <a:solidFill>
            <a:srgbClr val="3F4652"/>
          </a:solidFill>
          <a:ln/>
        </p:spPr>
      </p:sp>
      <p:sp>
        <p:nvSpPr>
          <p:cNvPr id="10" name="Shape 6"/>
          <p:cNvSpPr/>
          <p:nvPr/>
        </p:nvSpPr>
        <p:spPr>
          <a:xfrm>
            <a:off x="4070149" y="1533525"/>
            <a:ext cx="531601" cy="531614"/>
          </a:xfrm>
          <a:prstGeom prst="ellipse">
            <a:avLst/>
          </a:prstGeom>
          <a:solidFill>
            <a:srgbClr val="599CE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295" y="1679674"/>
            <a:ext cx="239210" cy="239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70149" y="2231231"/>
            <a:ext cx="2710985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API Authentication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070149" y="2884686"/>
            <a:ext cx="2710985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OAuth client secrets, signing keys, and service-to-service credentials centrally with rotation support.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61475" y="4326533"/>
            <a:ext cx="6296860" cy="1977926"/>
          </a:xfrm>
          <a:prstGeom prst="roundRect">
            <a:avLst>
              <a:gd name="adj" fmla="val 1344"/>
            </a:avLst>
          </a:prstGeom>
          <a:solidFill>
            <a:srgbClr val="3F4652"/>
          </a:solidFill>
          <a:ln/>
        </p:spPr>
      </p:sp>
      <p:sp>
        <p:nvSpPr>
          <p:cNvPr id="15" name="Shape 10"/>
          <p:cNvSpPr/>
          <p:nvPr/>
        </p:nvSpPr>
        <p:spPr>
          <a:xfrm>
            <a:off x="838675" y="4503737"/>
            <a:ext cx="531601" cy="531614"/>
          </a:xfrm>
          <a:prstGeom prst="ellipse">
            <a:avLst/>
          </a:prstGeom>
          <a:solidFill>
            <a:srgbClr val="599CE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821" y="4649887"/>
            <a:ext cx="239210" cy="239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8675" y="5201444"/>
            <a:ext cx="5942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Automated Certificate Renewal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38675" y="5577979"/>
            <a:ext cx="59424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 certificate policies with integrated CAs (e.g., DigiCert, Let's Encrypt) for hands-free TLS renewal.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&amp; Considerations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44685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Navigating Key Vault Complexity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7487" y="3641725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Key Vault is powerful, teams must understand its operational nuances to avoid misconfiguration.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95" y="6367314"/>
            <a:ext cx="141681" cy="141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8549" y="6364387"/>
            <a:ext cx="327641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RBAC vs. Access Policies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68549" y="6540302"/>
            <a:ext cx="327641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RBAC is recommended; legacy access policies create conflicting permission models.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6367314"/>
            <a:ext cx="141681" cy="141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11076" y="6364387"/>
            <a:ext cx="327651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Soft Delete Retention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611076" y="6540302"/>
            <a:ext cx="327651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Deleted vaults are retained 7–90 days — plan retention windows carefully.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2048" y="6367314"/>
            <a:ext cx="141681" cy="141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53702" y="6364387"/>
            <a:ext cx="327641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Purge Protection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253702" y="6540302"/>
            <a:ext cx="327641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Once enabled, purge protection cannot be disabled — a deliberate design for compliance.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5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Advantages &amp; Conclusion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61475" y="1058763"/>
            <a:ext cx="3102294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99.9%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661475" y="1562993"/>
            <a:ext cx="31022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SLA Uptime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1791791"/>
            <a:ext cx="31022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Enterprise-grade availability for production workloads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56040" y="1058763"/>
            <a:ext cx="3102294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256-bit</a:t>
            </a:r>
            <a:endParaRPr lang="en-US" sz="3050" dirty="0"/>
          </a:p>
        </p:txBody>
      </p:sp>
      <p:sp>
        <p:nvSpPr>
          <p:cNvPr id="8" name="Text 5"/>
          <p:cNvSpPr/>
          <p:nvPr/>
        </p:nvSpPr>
        <p:spPr>
          <a:xfrm>
            <a:off x="3856040" y="1562993"/>
            <a:ext cx="31022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Encryption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56040" y="1791791"/>
            <a:ext cx="31022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AES-256 encryption at rest with HSM-backed keys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58758" y="2152055"/>
            <a:ext cx="3102294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</a:t>
            </a:r>
            <a:endParaRPr lang="en-US" sz="3050" dirty="0"/>
          </a:p>
        </p:txBody>
      </p:sp>
      <p:sp>
        <p:nvSpPr>
          <p:cNvPr id="11" name="Text 8"/>
          <p:cNvSpPr/>
          <p:nvPr/>
        </p:nvSpPr>
        <p:spPr>
          <a:xfrm>
            <a:off x="2258758" y="2656284"/>
            <a:ext cx="31022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Hardcoded Secrets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258758" y="2885083"/>
            <a:ext cx="31022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embedded credentials across all applications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61475" y="3121720"/>
            <a:ext cx="6296860" cy="2474119"/>
          </a:xfrm>
          <a:prstGeom prst="roundRect">
            <a:avLst>
              <a:gd name="adj" fmla="val 716"/>
            </a:avLst>
          </a:prstGeom>
          <a:solidFill>
            <a:srgbClr val="3F4652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475" y="3121720"/>
            <a:ext cx="6296860" cy="618530"/>
          </a:xfrm>
          <a:custGeom>
            <a:avLst/>
            <a:gdLst/>
            <a:ahLst/>
            <a:cxnLst/>
            <a:rect l="l" t="t" r="r" b="b"/>
            <a:pathLst>
              <a:path w="6296860" h="618530">
                <a:moveTo>
                  <a:pt x="14767" y="0"/>
                </a:moveTo>
                <a:lnTo>
                  <a:pt x="6282093" y="0"/>
                </a:lnTo>
                <a:arcTo wR="14767" hR="14767" stAng="16200000" swAng="5400000"/>
                <a:lnTo>
                  <a:pt x="6296860" y="618530"/>
                </a:lnTo>
                <a:lnTo>
                  <a:pt x="0" y="618530"/>
                </a:lnTo>
                <a:lnTo>
                  <a:pt x="0" y="14767"/>
                </a:lnTo>
                <a:arcTo wR="14767" hR="14767" stAng="10800000" swAng="5400000"/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15" name="Text 12"/>
          <p:cNvSpPr/>
          <p:nvPr/>
        </p:nvSpPr>
        <p:spPr>
          <a:xfrm>
            <a:off x="779542" y="3239790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 Security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9542" y="3468588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HSM-backed, FIPS-compliant, zero-trust architecture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61475" y="3740249"/>
            <a:ext cx="6296860" cy="618530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8" name="Shape 15"/>
          <p:cNvSpPr/>
          <p:nvPr/>
        </p:nvSpPr>
        <p:spPr>
          <a:xfrm>
            <a:off x="661475" y="3740249"/>
            <a:ext cx="6296860" cy="1270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19" name="Text 16"/>
          <p:cNvSpPr/>
          <p:nvPr/>
        </p:nvSpPr>
        <p:spPr>
          <a:xfrm>
            <a:off x="779542" y="3858320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79542" y="4087118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thousands of secrets across global deployments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1475" y="4358779"/>
            <a:ext cx="6296860" cy="618530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22" name="Shape 19"/>
          <p:cNvSpPr/>
          <p:nvPr/>
        </p:nvSpPr>
        <p:spPr>
          <a:xfrm>
            <a:off x="661475" y="4358779"/>
            <a:ext cx="6296860" cy="1270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23" name="Text 20"/>
          <p:cNvSpPr/>
          <p:nvPr/>
        </p:nvSpPr>
        <p:spPr>
          <a:xfrm>
            <a:off x="779542" y="4476849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79542" y="4705648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Meets SOC 2, ISO 27001, HIPAA, and GDPR requirements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61475" y="4977309"/>
            <a:ext cx="6296860" cy="618530"/>
          </a:xfrm>
          <a:custGeom>
            <a:avLst/>
            <a:gdLst/>
            <a:ahLst/>
            <a:cxnLst/>
            <a:rect l="l" t="t" r="r" b="b"/>
            <a:pathLst>
              <a:path w="6296860" h="618530">
                <a:moveTo>
                  <a:pt x="0" y="0"/>
                </a:moveTo>
                <a:lnTo>
                  <a:pt x="6296860" y="0"/>
                </a:lnTo>
                <a:lnTo>
                  <a:pt x="6296860" y="603762"/>
                </a:lnTo>
                <a:arcTo wR="14767" hR="14767" stAng="0" swAng="5400000"/>
                <a:lnTo>
                  <a:pt x="14767" y="618530"/>
                </a:lnTo>
                <a:arcTo wR="14767" hR="14767" stAng="5400000" swAng="5400000"/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26" name="Shape 23"/>
          <p:cNvSpPr/>
          <p:nvPr/>
        </p:nvSpPr>
        <p:spPr>
          <a:xfrm>
            <a:off x="661475" y="4977309"/>
            <a:ext cx="6296860" cy="1270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27" name="Text 24"/>
          <p:cNvSpPr/>
          <p:nvPr/>
        </p:nvSpPr>
        <p:spPr>
          <a:xfrm>
            <a:off x="779542" y="5095379"/>
            <a:ext cx="60607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79542" y="5324177"/>
            <a:ext cx="606072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audit logs, alerts, and integration with Sentinel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61475" y="5678884"/>
            <a:ext cx="6296860" cy="659904"/>
          </a:xfrm>
          <a:prstGeom prst="roundRect">
            <a:avLst>
              <a:gd name="adj" fmla="val 2685"/>
            </a:avLst>
          </a:prstGeom>
          <a:solidFill>
            <a:srgbClr val="183A13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42" y="5786735"/>
            <a:ext cx="147634" cy="11807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045243" y="5782171"/>
            <a:ext cx="5795024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Azure Key Vault, combined with Managed Identity and Entra ID, delivers a zero-trust credential management model — eliminating hardcoded secrets, automating certificate lifecycles, and providing full auditability for compliance.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730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Slab</vt:lpstr>
      <vt:lpstr>Roboto Bold</vt:lpstr>
      <vt:lpstr>Roboto Slab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Rasima Reddy Leela Rohith</cp:lastModifiedBy>
  <cp:revision>2</cp:revision>
  <dcterms:created xsi:type="dcterms:W3CDTF">2026-09-27T04:08:33Z</dcterms:created>
  <dcterms:modified xsi:type="dcterms:W3CDTF">2026-09-30T02:42:59Z</dcterms:modified>
</cp:coreProperties>
</file>